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58384" y="1463040"/>
            <a:ext cx="1463040" cy="1463040"/>
          </a:xfrm>
          <a:prstGeom prst="ellipse">
            <a:avLst/>
          </a:prstGeom>
          <a:solidFill>
            <a:srgbClr val="E8D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24144" y="1828800"/>
            <a:ext cx="731520" cy="731520"/>
          </a:xfrm>
          <a:prstGeom prst="ellipse">
            <a:avLst/>
          </a:prstGeom>
          <a:solidFill>
            <a:srgbClr val="B8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3F4F45"/>
                </a:solidFill>
                <a:latin typeface="Georgia"/>
              </a:rPr>
              <a:t>Haëra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C8375"/>
                </a:solidFill>
                <a:latin typeface="Inter"/>
              </a:rPr>
              <a:t>APRESENTAÇÃO INSTITUCIONAL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964B"/>
                </a:solidFill>
                <a:latin typeface="Inter"/>
              </a:rPr>
              <a:t>QUEM SOMOS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3F4F45"/>
                </a:solidFill>
                <a:latin typeface="Georgia"/>
              </a:rPr>
              <a:t>Nutrição funcional entre
superfood e suplemento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  <a:latin typeface="Inter"/>
              </a:rPr>
              <a:t>A Haëra desenvolve suplementos inteligentes, limpos e cientificamente embasados que potencializam a fisiologia natural do organismo sem depender de excessos. Nosso primeiro produto, o Pulse, é um ativador fisiológico clean label — não um pré-treino tradicional.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964B"/>
                </a:solidFill>
                <a:latin typeface="Inter"/>
              </a:rPr>
              <a:t>POSICIONAMENTO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3F4F45"/>
                </a:solidFill>
                <a:latin typeface="Georgia"/>
              </a:rPr>
              <a:t>Premium acessível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  <a:latin typeface="Inter"/>
              </a:rPr>
              <a:t>Lista VIP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22F37"/>
                </a:solidFill>
                <a:latin typeface="Inter"/>
              </a:rPr>
              <a:t>R$ 129,90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8375"/>
                </a:solidFill>
                <a:latin typeface="Inter"/>
              </a:rPr>
              <a:t>Recompensa quem confiou primeiro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  <a:latin typeface="Inter"/>
              </a:rPr>
              <a:t>Lançamento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22F37"/>
                </a:solidFill>
                <a:latin typeface="Inter"/>
              </a:rPr>
              <a:t>R$ 149,90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8375"/>
                </a:solidFill>
                <a:latin typeface="Inter"/>
              </a:rPr>
              <a:t>Gera urgência na largada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C1C"/>
                </a:solidFill>
                <a:latin typeface="Inter"/>
              </a:rPr>
              <a:t>Preço oficial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22F37"/>
                </a:solidFill>
                <a:latin typeface="Inter"/>
              </a:rPr>
              <a:t>R$ 169,90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8375"/>
                </a:solidFill>
                <a:latin typeface="Inter"/>
              </a:rPr>
              <a:t>Posicionamento premium definitivo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964B"/>
                </a:solidFill>
                <a:latin typeface="Inter"/>
              </a:rPr>
              <a:t>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3F4F45"/>
                </a:solidFill>
                <a:latin typeface="Georgia"/>
              </a:rP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  <a:latin typeface="Inter"/>
              </a:rPr>
              <a:t>Pouch com 30 sachês (5g cada) · sabor limão · 21 ingredientes em sinergia · sem cafeína sintética · sem corantes ou adoçantes artificiais · corante natural à base de Clorela.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22F37"/>
                </a:solidFill>
                <a:latin typeface="Georgia"/>
              </a:rPr>
              <a:t>"Pulse é um ativador do sistema corporal: 21 ingredientes em sinergia natural, sem cafeína sintética, sem energia crash, sem culpa."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964B"/>
                </a:solidFill>
                <a:latin typeface="Inter"/>
              </a:rPr>
              <a:t>IDENTIDADE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3F4F45"/>
                </a:solidFill>
                <a:latin typeface="Georgia"/>
              </a:rPr>
              <a:t>Paleta institucional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554480" cy="1005840"/>
          </a:xfrm>
          <a:prstGeom prst="roundRect">
            <a:avLst/>
          </a:prstGeom>
          <a:solidFill>
            <a:srgbClr val="9CA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Inter"/>
              </a:rPr>
              <a:t>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377440"/>
            <a:ext cx="1554480" cy="1005840"/>
          </a:xfrm>
          <a:prstGeom prst="roundRect">
            <a:avLst/>
          </a:prstGeom>
          <a:solidFill>
            <a:srgbClr val="3F4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Inter"/>
              </a:rPr>
              <a:t>Olive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377440"/>
            <a:ext cx="1554480" cy="1005840"/>
          </a:xfrm>
          <a:prstGeom prst="roundRect">
            <a:avLst/>
          </a:prstGeom>
          <a:solidFill>
            <a:srgbClr val="72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Inter"/>
              </a:rPr>
              <a:t>Wine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377440"/>
            <a:ext cx="1554480" cy="1005840"/>
          </a:xfrm>
          <a:prstGeom prst="roundRect">
            <a:avLst/>
          </a:prstGeom>
          <a:solidFill>
            <a:srgbClr val="1B4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Inter"/>
              </a:rPr>
              <a:t>Petrol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377440"/>
            <a:ext cx="1554480" cy="1005840"/>
          </a:xfrm>
          <a:prstGeom prst="roundRect">
            <a:avLst/>
          </a:prstGeom>
          <a:solidFill>
            <a:srgbClr val="B89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Inter"/>
              </a:rPr>
              <a:t>Gold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377440"/>
            <a:ext cx="1554480" cy="1005840"/>
          </a:xfrm>
          <a:prstGeom prst="roundRect">
            <a:avLst/>
          </a:prstGeom>
          <a:solidFill>
            <a:srgbClr val="C4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3474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  <a:latin typeface="Inter"/>
              </a:rPr>
              <a:t>Terracotta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